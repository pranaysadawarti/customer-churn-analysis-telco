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299" r:id="rId6"/>
    <p:sldId id="297" r:id="rId7"/>
    <p:sldId id="261" r:id="rId8"/>
    <p:sldId id="298" r:id="rId9"/>
    <p:sldId id="279" r:id="rId10"/>
    <p:sldId id="276" r:id="rId11"/>
    <p:sldId id="293" r:id="rId12"/>
    <p:sldId id="268" r:id="rId13"/>
    <p:sldId id="269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7" d="100"/>
          <a:sy n="77" d="100"/>
        </p:scale>
        <p:origin x="912" y="5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 fontScale="90000"/>
          </a:bodyPr>
          <a:lstStyle/>
          <a:p>
            <a:r>
              <a:rPr lang="en-US" dirty="0"/>
              <a:t>Customer Churn Prediction Using Machine Learning</a:t>
            </a:r>
            <a:br>
              <a:rPr lang="en-US" dirty="0"/>
            </a:br>
            <a:br>
              <a:rPr lang="en-US" dirty="0"/>
            </a:br>
            <a:r>
              <a:rPr lang="en-IN" sz="2700" dirty="0"/>
              <a:t>Telecom Industry Case Study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pPr algn="r"/>
            <a:r>
              <a:rPr lang="en-US" dirty="0"/>
              <a:t>Pranay Sadawarti</a:t>
            </a:r>
          </a:p>
          <a:p>
            <a:pPr algn="r"/>
            <a:r>
              <a:rPr lang="en-US" dirty="0"/>
              <a:t>May 2026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516EE4-B802-8206-EB6B-58BECF664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0" y="3429000"/>
            <a:ext cx="417774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Introduction to Customer Churn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Problem Statement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 Overview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Preprocessing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 Building &amp;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 Evaluation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Results &amp;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Deployment / Prediction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Conclusion &amp; Future Scope </a:t>
            </a:r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2719632"/>
            <a:ext cx="5970309" cy="3282885"/>
          </a:xfrm>
        </p:spPr>
        <p:txBody>
          <a:bodyPr lIns="0" anchor="b" anchorCtr="0">
            <a:noAutofit/>
          </a:bodyPr>
          <a:lstStyle/>
          <a:p>
            <a:r>
              <a:rPr lang="en-US" sz="2400" dirty="0"/>
              <a:t>What is Customer Churn?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Definition: When a customer stops using a company's product/service</a:t>
            </a:r>
            <a:br>
              <a:rPr lang="en-US" sz="2400" dirty="0"/>
            </a:br>
            <a:r>
              <a:rPr lang="en-US" sz="2400" dirty="0"/>
              <a:t>Impact on Telecom: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-High acquisition cost vs retention cost</a:t>
            </a:r>
            <a:br>
              <a:rPr lang="en-US" sz="2400" dirty="0"/>
            </a:br>
            <a:r>
              <a:rPr lang="en-US" sz="2400" dirty="0"/>
              <a:t>-Revenue loss</a:t>
            </a:r>
            <a:br>
              <a:rPr lang="en-US" sz="2400" dirty="0"/>
            </a:br>
            <a:r>
              <a:rPr lang="en-US" sz="2400" dirty="0"/>
              <a:t>-Affects brand reputation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Business Goal: Predict customers who are likely to churn → Take preventive actions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68557"/>
            <a:ext cx="4572000" cy="1948069"/>
          </a:xfrm>
          <a:noFill/>
        </p:spPr>
        <p:txBody>
          <a:bodyPr anchor="t" anchorCtr="0">
            <a:noAutofit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br>
              <a:rPr lang="en-IN" dirty="0"/>
            </a:br>
            <a:r>
              <a:rPr lang="en-US" sz="2000" dirty="0"/>
              <a:t>Predict whether a customer will churn or not using historical data</a:t>
            </a:r>
            <a:br>
              <a:rPr lang="en-US" dirty="0"/>
            </a:br>
            <a:endParaRPr lang="en-IN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7"/>
            <a:ext cx="5029200" cy="4172049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Dataset Overview</a:t>
            </a:r>
          </a:p>
          <a:p>
            <a:r>
              <a:rPr lang="en-US" sz="2200" b="1" dirty="0"/>
              <a:t>Total Records:</a:t>
            </a:r>
            <a:r>
              <a:rPr lang="en-US" sz="2200" dirty="0"/>
              <a:t> 7043</a:t>
            </a:r>
          </a:p>
          <a:p>
            <a:r>
              <a:rPr lang="en-US" sz="2200" b="1" dirty="0"/>
              <a:t>Total Features:</a:t>
            </a:r>
            <a:r>
              <a:rPr lang="en-US" sz="2200" dirty="0"/>
              <a:t> 21</a:t>
            </a:r>
          </a:p>
          <a:p>
            <a:r>
              <a:rPr lang="en-US" sz="2200" b="1" dirty="0"/>
              <a:t>Target:</a:t>
            </a:r>
            <a:r>
              <a:rPr lang="en-US" sz="2200" dirty="0"/>
              <a:t> Churn (Binary)</a:t>
            </a:r>
          </a:p>
          <a:p>
            <a:r>
              <a:rPr lang="en-US" sz="2200" b="1" dirty="0"/>
              <a:t>Feature Types:</a:t>
            </a:r>
            <a:endParaRPr lang="en-US" sz="2200" dirty="0"/>
          </a:p>
          <a:p>
            <a:pPr lvl="1"/>
            <a:r>
              <a:rPr lang="en-US" sz="2200" dirty="0"/>
              <a:t>Categorical: 17</a:t>
            </a:r>
          </a:p>
          <a:p>
            <a:pPr lvl="1"/>
            <a:r>
              <a:rPr lang="en-US" sz="2200" dirty="0"/>
              <a:t>Numerical: 3 (tenure, </a:t>
            </a:r>
            <a:r>
              <a:rPr lang="en-US" sz="2200" dirty="0" err="1"/>
              <a:t>MonthlyCharges</a:t>
            </a:r>
            <a:r>
              <a:rPr lang="en-US" sz="2200" dirty="0"/>
              <a:t>, </a:t>
            </a:r>
            <a:r>
              <a:rPr lang="en-US" sz="2200" dirty="0" err="1"/>
              <a:t>TotalCharges</a:t>
            </a:r>
            <a:r>
              <a:rPr lang="en-US" sz="2200" dirty="0"/>
              <a:t>)</a:t>
            </a:r>
          </a:p>
          <a:p>
            <a:r>
              <a:rPr lang="en-US" sz="2200" b="1" dirty="0"/>
              <a:t>Source:</a:t>
            </a:r>
            <a:r>
              <a:rPr lang="en-US" sz="2200" dirty="0"/>
              <a:t> Kaggle / IBM Sample Dataset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2A563F-EC44-88F3-EC2D-C1CE720E2341}"/>
              </a:ext>
            </a:extLst>
          </p:cNvPr>
          <p:cNvSpPr txBox="1"/>
          <p:nvPr/>
        </p:nvSpPr>
        <p:spPr>
          <a:xfrm>
            <a:off x="1063487" y="1467061"/>
            <a:ext cx="5108713" cy="37856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Exploratory Data Analysis (EDA)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-Churn Rate: ~26.5%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-Senior Citizens more likely to churn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-Month-to-month contract customers have high churn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-Fiber optic users have higher churn rate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-Higher Monthly Charges → Higher Churn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FF6DAF-1552-87C7-433E-D3E695FA8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113" y="1113079"/>
            <a:ext cx="5969411" cy="473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31519"/>
            <a:ext cx="6599583" cy="3840481"/>
          </a:xfrm>
        </p:spPr>
        <p:txBody>
          <a:bodyPr>
            <a:noAutofit/>
          </a:bodyPr>
          <a:lstStyle/>
          <a:p>
            <a:r>
              <a:rPr lang="en-IN" sz="2800" dirty="0"/>
              <a:t>Data Preprocessing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-Dropped </a:t>
            </a:r>
            <a:r>
              <a:rPr lang="en-IN" sz="2400" dirty="0" err="1"/>
              <a:t>customerID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-Handled </a:t>
            </a:r>
            <a:r>
              <a:rPr lang="en-IN" sz="2400" dirty="0" err="1"/>
              <a:t>TotalCharges</a:t>
            </a:r>
            <a:r>
              <a:rPr lang="en-IN" sz="2400" dirty="0"/>
              <a:t> (object → numeric)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-Label Encoding for all categorical columns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-Train-Test Split (80:20)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-SMOTE applied to handle class imbalance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ECFE43-5BF7-5861-FB17-EC74878A3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988738"/>
            <a:ext cx="3183230" cy="15920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8BF896-3ED4-C147-647A-E20C4504126E}"/>
              </a:ext>
            </a:extLst>
          </p:cNvPr>
          <p:cNvSpPr txBox="1"/>
          <p:nvPr/>
        </p:nvSpPr>
        <p:spPr>
          <a:xfrm>
            <a:off x="914399" y="4574594"/>
            <a:ext cx="318323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Before SMOTE: 4138 vs 1496</a:t>
            </a: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C5DBE1-317B-CE5A-EDD0-8A4EF278C9D5}"/>
              </a:ext>
            </a:extLst>
          </p:cNvPr>
          <p:cNvSpPr txBox="1"/>
          <p:nvPr/>
        </p:nvSpPr>
        <p:spPr>
          <a:xfrm>
            <a:off x="4214190" y="4574594"/>
            <a:ext cx="318323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After SMOTE: 4138 vs 4138</a:t>
            </a: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D5883F-0742-2D7C-6EC9-77E64D403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270" y="4988738"/>
            <a:ext cx="3139712" cy="159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54A902-DBDB-BF8C-7038-16C68E64A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132966"/>
              </p:ext>
            </p:extLst>
          </p:nvPr>
        </p:nvGraphicFramePr>
        <p:xfrm>
          <a:off x="390939" y="3919993"/>
          <a:ext cx="4061792" cy="1463040"/>
        </p:xfrm>
        <a:graphic>
          <a:graphicData uri="http://schemas.openxmlformats.org/drawingml/2006/table">
            <a:tbl>
              <a:tblPr/>
              <a:tblGrid>
                <a:gridCol w="2030896">
                  <a:extLst>
                    <a:ext uri="{9D8B030D-6E8A-4147-A177-3AD203B41FA5}">
                      <a16:colId xmlns:a16="http://schemas.microsoft.com/office/drawing/2014/main" val="638892265"/>
                    </a:ext>
                  </a:extLst>
                </a:gridCol>
                <a:gridCol w="2030896">
                  <a:extLst>
                    <a:ext uri="{9D8B030D-6E8A-4147-A177-3AD203B41FA5}">
                      <a16:colId xmlns:a16="http://schemas.microsoft.com/office/drawing/2014/main" val="3996623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CV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26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96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Random Forest</a:t>
                      </a:r>
                      <a:endParaRPr lang="en-IN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  <a:effectLst/>
                        </a:rPr>
                        <a:t>0.84</a:t>
                      </a:r>
                      <a:endParaRPr lang="en-IN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348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3098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33D20AE-6232-76FE-2A58-E1491809D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0939" y="1693506"/>
            <a:ext cx="406179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Selection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Selected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Classifier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F364FC-E3CC-5EA0-9999-9BB77D27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615" y="1023731"/>
            <a:ext cx="7349307" cy="51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83974"/>
            <a:ext cx="4969565" cy="4104860"/>
          </a:xfrm>
        </p:spPr>
        <p:txBody>
          <a:bodyPr>
            <a:normAutofit/>
          </a:bodyPr>
          <a:lstStyle/>
          <a:p>
            <a:r>
              <a:rPr lang="en-US" dirty="0"/>
              <a:t>Model Performance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Test Results: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Accuracy: 77.86%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Precision (Churn): 58%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Recall (Churn): 59%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F1-Score (Churn): 58%</a:t>
            </a:r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D91126-DBBD-0250-35EB-3F441D10F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608" y="1736007"/>
            <a:ext cx="6835087" cy="484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83" y="731838"/>
            <a:ext cx="4731026" cy="689776"/>
          </a:xfrm>
          <a:noFill/>
        </p:spPr>
        <p:txBody>
          <a:bodyPr anchor="b" anchorCtr="0">
            <a:noAutofit/>
          </a:bodyPr>
          <a:lstStyle/>
          <a:p>
            <a:r>
              <a:rPr lang="en-IN" dirty="0"/>
              <a:t>Feature Importance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2AB5DFC-9242-07FE-A3BE-3956A9D10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83" y="1635752"/>
            <a:ext cx="2694969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Contract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MonthlyCharges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PaymentMethod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OnlineSecurity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etc.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4A857-3A27-62BE-C407-794C832536EA}"/>
              </a:ext>
            </a:extLst>
          </p:cNvPr>
          <p:cNvSpPr txBox="1"/>
          <p:nvPr/>
        </p:nvSpPr>
        <p:spPr>
          <a:xfrm>
            <a:off x="5705061" y="827570"/>
            <a:ext cx="5947700" cy="46628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Prediction System</a:t>
            </a:r>
          </a:p>
          <a:p>
            <a:endParaRPr lang="en-US" sz="3600" b="1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Saved model using pickle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Created user input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Example Prediction shown in notebook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latin typeface="+mj-lt"/>
              </a:rPr>
              <a:t>Can be deployed as: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Streamlit</a:t>
            </a:r>
            <a:r>
              <a:rPr lang="en-US" dirty="0">
                <a:solidFill>
                  <a:schemeClr val="bg1"/>
                </a:solidFill>
              </a:rPr>
              <a:t>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Flask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Application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" y="1023730"/>
            <a:ext cx="5996609" cy="3766931"/>
          </a:xfrm>
          <a:noFill/>
        </p:spPr>
        <p:txBody>
          <a:bodyPr anchor="b" anchorCtr="0">
            <a:noAutofit/>
          </a:bodyPr>
          <a:lstStyle/>
          <a:p>
            <a:r>
              <a:rPr lang="en-US" sz="3600" dirty="0"/>
              <a:t>Business Impact</a:t>
            </a:r>
            <a:br>
              <a:rPr lang="en-US" sz="3200" dirty="0"/>
            </a:br>
            <a:br>
              <a:rPr lang="en-US" sz="3200" dirty="0"/>
            </a:br>
            <a:r>
              <a:rPr lang="en-US" sz="2400" dirty="0"/>
              <a:t>-</a:t>
            </a:r>
            <a:r>
              <a:rPr lang="en-US" sz="2400" dirty="0">
                <a:latin typeface="+mn-lt"/>
              </a:rPr>
              <a:t>Early identification of at-risk customers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-Targeted retention campaigns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-Reduced churn rate → Increased revenue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-Better resource allocation</a:t>
            </a:r>
            <a:endParaRPr lang="en-US" sz="32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5D7E4-D4F5-6671-F844-4155AA7C4FF8}"/>
              </a:ext>
            </a:extLst>
          </p:cNvPr>
          <p:cNvSpPr txBox="1"/>
          <p:nvPr/>
        </p:nvSpPr>
        <p:spPr>
          <a:xfrm>
            <a:off x="6096000" y="2308976"/>
            <a:ext cx="5840896" cy="295465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Conclusion</a:t>
            </a:r>
          </a:p>
          <a:p>
            <a:endParaRPr lang="en-US" sz="3600" dirty="0">
              <a:solidFill>
                <a:schemeClr val="bg1"/>
              </a:solidFill>
              <a:latin typeface="+mj-lt"/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-Successfully built a churn prediction model with 77.86% accuracy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-Random Forest performed best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-SMOTE helped handle imbalance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75</TotalTime>
  <Words>418</Words>
  <Application>Microsoft Office PowerPoint</Application>
  <PresentationFormat>Widescreen</PresentationFormat>
  <Paragraphs>89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Customer Churn Prediction Using Machine Learning  Telecom Industry Case Study</vt:lpstr>
      <vt:lpstr>Agenda </vt:lpstr>
      <vt:lpstr>What is Customer Churn?  Definition: When a customer stops using a company's product/service Impact on Telecom:  -High acquisition cost vs retention cost -Revenue loss -Affects brand reputation  Business Goal: Predict customers who are likely to churn → Take preventive actions </vt:lpstr>
      <vt:lpstr>Problem Statement  Predict whether a customer will churn or not using historical data </vt:lpstr>
      <vt:lpstr>PowerPoint Presentation</vt:lpstr>
      <vt:lpstr>Data Preprocessing  -Dropped customerID  -Handled TotalCharges (object → numeric)  -Label Encoding for all categorical columns  -Train-Test Split (80:20)  -SMOTE applied to handle class imbalance</vt:lpstr>
      <vt:lpstr>Model Selection  Selected Model:  Random Forest Classifier</vt:lpstr>
      <vt:lpstr>Model Performance  Test Results:  Accuracy: 77.86%  Precision (Churn): 58%  Recall (Churn): 59%  F1-Score (Churn): 58%</vt:lpstr>
      <vt:lpstr>Feature Importance</vt:lpstr>
      <vt:lpstr>Business Impact  -Early identification of at-risk customers -Targeted retention campaigns -Reduced churn rate → Increased revenue -Better resource allocation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Pranay Sadawarti</dc:creator>
  <cp:lastModifiedBy>Pranay Sadawarti</cp:lastModifiedBy>
  <cp:revision>8</cp:revision>
  <dcterms:created xsi:type="dcterms:W3CDTF">2026-06-02T10:58:03Z</dcterms:created>
  <dcterms:modified xsi:type="dcterms:W3CDTF">2026-06-02T12:13:25Z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